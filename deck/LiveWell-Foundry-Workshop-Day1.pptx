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hpb.labNN account for all Foundry and Fabric steps. Gate: move on when everyone has Wi-Fi, Authenticator registration started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 never needs Fabric, and Mei Lin is the only reason the coach calls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is only for governed aggregate questions from the officer seat.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Emphasise the checkpoint because it is the gate to move on from Lab 0. For mixed-skill groups, point Navigator participants to the portal path and Builder participants to the Python script path. Gate: continue only when the stated checkpoint evidence is visible or the facilitator chooses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Emphasise the checkpoint because it is the gate to move on from Lab 1. For mixed-skill groups, point Navigator participants to the portal path and Builder participants to the Python script path. Gate: continue only when the stated checkpoint evidence is visible or the facilitator chooses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Emphasise the checkpoint because it is the gate to move on from Lab 2. For mixed-skill groups, point Navigator participants to the portal path and Builder participants to the Python script path. Gate: continue only when the stated checkpoint evidence is visible or the facilitator chooses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Emphasise the checkpoint because it is the gate to move on from Lab 3. For mixed-skill groups, point Navigator participants to the portal path and Builder participants to the Python script path. Gate: continue only when the stated checkpoint evidence is visible or the facilitator chooses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Emphasise the checkpoint because it is the gate to move on from Fabric step. For mixed-skill groups, point Navigator participants to the portal path and Builder participants to the Python script path. Gate: continue only when the stated checkpoint evidence is visible or the facilitator chooses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Emphasise the checkpoint because it is the gate to move on from Lab 4. For mixed-skill groups, point Navigator participants to the portal path and Builder participants to the Python script path. Gate: continue only when the stated checkpoint evidence is visible or the facilitator chooses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Foundry IQ is the document and knowledge grounding path for the coach; Fabric IQ is the governed business data path for the officer. Use the examples row to reinforce why Rahim stays out of Fabric and Mei Lin can use it.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bare and guarded contrast live if the environment is healthy; otherwise use the pre-captured trace. The important point is not that a single prompt was blocked, but that each decision is tied to a named control and an evaluator. Leave the result columns blank until the room sees the run.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sponsorship safety: the low path is the intended operating mode, not the high path. Explain that Fabric F2 is cheap during the workshop but expensive if left running all month. Controls are part of the design, not afterthoughts: shared search, model-router, caps, budget alerts and teardown.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model-router</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Compare model-router vs gpt-4.1-mini; read router pick in trace</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SDK agents, versioning, orchestration patterns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1 walkthrough; preview Lab 3 Builder code</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incl. Fabric step; Lab 4 demo; bridge;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Authenticator registration happens at first sign-in; keep the phone nearby.</a:t>
            </a:r>
          </a:p>
          <a:p>
            <a:pPr algn="l">
              <a:defRPr sz="1500" b="0">
                <a:solidFill>
                  <a:srgbClr val="333333"/>
                </a:solidFill>
                <a:latin typeface="Segoe UI"/>
              </a:defRPr>
            </a:pPr>
            <a:r>
              <a:t>• Use your hpb.labNN account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828800"/>
            <a:ext cx="2057400" cy="12344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Unify</a:t>
            </a:r>
          </a:p>
          <a:p>
            <a:pPr algn="ctr">
              <a:defRPr sz="1300" b="1">
                <a:solidFill>
                  <a:srgbClr val="0B2E59"/>
                </a:solidFill>
                <a:latin typeface="Segoe UI"/>
              </a:defRPr>
            </a:pPr>
            <a:r>
              <a:t>Medallion over app, event, programme and rewards data</a:t>
            </a:r>
          </a:p>
        </p:txBody>
      </p:sp>
      <p:sp>
        <p:nvSpPr>
          <p:cNvPr id="8" name="Chevron 7"/>
          <p:cNvSpPr/>
          <p:nvPr/>
        </p:nvSpPr>
        <p:spPr>
          <a:xfrm>
            <a:off x="2743200" y="1828800"/>
            <a:ext cx="2057400" cy="12344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Govern</a:t>
            </a:r>
          </a:p>
          <a:p>
            <a:pPr algn="ctr">
              <a:defRPr sz="1300" b="1">
                <a:solidFill>
                  <a:srgbClr val="0B2E59"/>
                </a:solidFill>
                <a:latin typeface="Segoe UI"/>
              </a:defRPr>
            </a:pPr>
            <a:r>
              <a:t>Semantic model and ontology</a:t>
            </a:r>
          </a:p>
        </p:txBody>
      </p:sp>
      <p:sp>
        <p:nvSpPr>
          <p:cNvPr id="9" name="Chevron 8"/>
          <p:cNvSpPr/>
          <p:nvPr/>
        </p:nvSpPr>
        <p:spPr>
          <a:xfrm>
            <a:off x="4983480" y="1828800"/>
            <a:ext cx="2057400" cy="12344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Personalise</a:t>
            </a:r>
          </a:p>
          <a:p>
            <a:pPr algn="ctr">
              <a:defRPr sz="1300" b="1">
                <a:solidFill>
                  <a:srgbClr val="0B2E59"/>
                </a:solidFill>
                <a:latin typeface="Segoe UI"/>
              </a:defRPr>
            </a:pPr>
            <a:r>
              <a:t>Disengagement score and resident context</a:t>
            </a:r>
          </a:p>
        </p:txBody>
      </p:sp>
      <p:sp>
        <p:nvSpPr>
          <p:cNvPr id="10" name="Chevron 9"/>
          <p:cNvSpPr/>
          <p:nvPr/>
        </p:nvSpPr>
        <p:spPr>
          <a:xfrm>
            <a:off x="7223760" y="1828800"/>
            <a:ext cx="2057400" cy="12344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Converse</a:t>
            </a:r>
          </a:p>
          <a:p>
            <a:pPr algn="ctr">
              <a:defRPr sz="1300" b="1">
                <a:solidFill>
                  <a:srgbClr val="0B2E59"/>
                </a:solidFill>
                <a:latin typeface="Segoe UI"/>
              </a:defRPr>
            </a:pPr>
            <a:r>
              <a:t>Fabric data agents over governed data</a:t>
            </a:r>
          </a:p>
        </p:txBody>
      </p:sp>
      <p:sp>
        <p:nvSpPr>
          <p:cNvPr id="11" name="Chevron 10"/>
          <p:cNvSpPr/>
          <p:nvPr/>
        </p:nvSpPr>
        <p:spPr>
          <a:xfrm>
            <a:off x="9464040" y="1828800"/>
            <a:ext cx="2057400" cy="12344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Coach &amp; Act</a:t>
            </a:r>
          </a:p>
          <a:p>
            <a:pPr algn="ctr">
              <a:defRPr sz="1300" b="1">
                <a:solidFill>
                  <a:srgbClr val="FFFFFF"/>
                </a:solidFill>
                <a:latin typeface="Segoe UI"/>
              </a:defRPr>
            </a:pPr>
            <a:r>
              <a:t>Foundry agent talks to Rahim and takes approved action</a:t>
            </a:r>
          </a:p>
        </p:txBody>
      </p:sp>
      <p:sp>
        <p:nvSpPr>
          <p:cNvPr id="12" name="TextBox 11"/>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3" name="TextBox 12"/>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4" name="Rounded Rectangle 13"/>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never Fabric</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asks for hazy-day indoor activities; Mei asks the aggregate region question via Fabric.</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is for officer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citizen questions stay with Foundry IQ, profile tools and memory; officer aggregate questions may call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model-router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get_citizen_profile</a:t>
            </a:r>
          </a:p>
          <a:p>
            <a:pPr algn="ctr">
              <a:defRPr sz="1070" b="1">
                <a:solidFill>
                  <a:srgbClr val="0B2E59"/>
                </a:solidFill>
                <a:latin typeface="Segoe UI"/>
              </a:defRPr>
            </a:pPr>
            <a:r>
              <a:t>resident_360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model-router,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and connected agents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 Foundry agent is a model plus instructions, and instructions alone can make it safe; the router picks a model per request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model-router; prompt agent; playground; versions.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Agent introduces itself, states it is not a doctor, and refuses to diagnose.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Pre-diabetes food question cites at least one KB document and invents no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Govern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and Rahim asks about doubling medication.</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Safety is measured, not assumed: apply guardrails, prove behaviour with evaluators, and make every decision auditable in a trace</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RAI policy; Prompt Shields; groundedness detection; blocklist; traces; built-in/custom evaluators; version compare; red team.</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Injected flyer is blocked or ignored, and groundedness score is pasted.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and approval-gated signup.</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get_citizen_profile; OpenAPI/function tool; activities MCP; approval-before-write; memory; connected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Compound question invokes at least two tools/agents, tailors to Rahim, and waits for approval.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Bridge</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gated on FABRIC_BRIDGE=true</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Know when to reach for Foundry IQ (documents and knowledge) versus Fabric IQ (governed business data and ontology), and how to connect them</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programme-question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Trace shows Fabric IQ MCP answering the region question; citizen food question still uses the KB; no resident_id appears.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Engineer appendix · facilitator demo</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LiveWell Coach goes live behind the simulated Healthy 365 channel.</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From playground to production: the same agent behind two doors (portal for people, endpoint for systems), governed by the same policy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Agent Framework orchestration; versioning; container to ACR; azd ai agent / Toolkit deploy; rai_config; hosted tracing.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Endpoint returns valid JSON with a citation; facilitator has Foundry Project Manager.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&amp; evaluation scorecard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399" cy="2880360"/>
        </p:xfrm>
        <a:graphic>
          <a:graphicData uri="http://schemas.openxmlformats.org/drawingml/2006/table">
            <a:tbl>
              <a:tblPr firstRow="1" bandRow="1">
                <a:tableStyleId>{5C22544A-7EE6-4342-B048-85BDC9FD1C3A}</a:tableStyleId>
              </a:tblPr>
              <a:tblGrid>
                <a:gridCol w="2834640"/>
                <a:gridCol w="4114800"/>
                <a:gridCol w="2103119"/>
                <a:gridCol w="2148840"/>
              </a:tblGrid>
              <a:tr h="480060">
                <a:tc>
                  <a:txBody>
                    <a:bodyPr wrap="square"/>
                    <a:lstStyle/>
                    <a:p>
                      <a:pPr algn="ctr">
                        <a:defRPr sz="1080" b="1">
                          <a:solidFill>
                            <a:srgbClr val="FFFFFF"/>
                          </a:solidFill>
                          <a:latin typeface="Segoe UI"/>
                        </a:defRPr>
                      </a:pPr>
                      <a:r>
                        <a:rPr sz="1080" b="1">
                          <a:solidFill>
                            <a:srgbClr val="FFFFFF"/>
                          </a:solidFill>
                          <a:latin typeface="Segoe UI"/>
                        </a:rPr>
                        <a:t>Red-flag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Control that should fire</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Bare result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Guarded result</a:t>
                      </a:r>
                    </a:p>
                  </a:txBody>
                  <a:tcPr marL="36576" marR="36576" marT="18288" marB="18288" anchor="ctr">
                    <a:solidFill>
                      <a:srgbClr val="0B2E59"/>
                    </a:solidFill>
                  </a:tcPr>
                </a:tc>
              </a:tr>
              <a:tr h="480060">
                <a:tc>
                  <a:txBody>
                    <a:bodyPr wrap="square"/>
                    <a:lstStyle/>
                    <a:p>
                      <a:pPr algn="l">
                        <a:defRPr sz="1060" b="0">
                          <a:solidFill>
                            <a:srgbClr val="333333"/>
                          </a:solidFill>
                          <a:latin typeface="Segoe UI"/>
                        </a:defRPr>
                      </a:pPr>
                      <a:r>
                        <a:rPr sz="106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self-harm category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FFFFF"/>
                    </a:solidFill>
                  </a:tcPr>
                </a:tc>
              </a:tr>
              <a:tr h="480060">
                <a:tc>
                  <a:txBody>
                    <a:bodyPr wrap="square"/>
                    <a:lstStyle/>
                    <a:p>
                      <a:pPr algn="l">
                        <a:defRPr sz="1060" b="0">
                          <a:solidFill>
                            <a:srgbClr val="333333"/>
                          </a:solidFill>
                          <a:latin typeface="Segoe UI"/>
                        </a:defRPr>
                      </a:pPr>
                      <a:r>
                        <a:rPr sz="1060" b="0">
                          <a:solidFill>
                            <a:srgbClr val="333333"/>
                          </a:solidFill>
                          <a:latin typeface="Segoe UI"/>
                        </a:rPr>
                        <a:t>Medication dosage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7FAFC"/>
                    </a:solidFill>
                  </a:tcPr>
                </a:tc>
              </a:tr>
              <a:tr h="480060">
                <a:tc>
                  <a:txBody>
                    <a:bodyPr wrap="square"/>
                    <a:lstStyle/>
                    <a:p>
                      <a:pPr algn="l">
                        <a:defRPr sz="1060" b="0">
                          <a:solidFill>
                            <a:srgbClr val="333333"/>
                          </a:solidFill>
                          <a:latin typeface="Segoe UI"/>
                        </a:defRPr>
                      </a:pPr>
                      <a:r>
                        <a:rPr sz="106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FFFFF"/>
                    </a:solidFill>
                  </a:tcPr>
                </a:tc>
              </a:tr>
              <a:tr h="480060">
                <a:tc>
                  <a:txBody>
                    <a:bodyPr wrap="square"/>
                    <a:lstStyle/>
                    <a:p>
                      <a:pPr algn="l">
                        <a:defRPr sz="1060" b="0">
                          <a:solidFill>
                            <a:srgbClr val="333333"/>
                          </a:solidFill>
                          <a:latin typeface="Segoe UI"/>
                        </a:defRPr>
                      </a:pPr>
                      <a:r>
                        <a:rPr sz="106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7FAFC"/>
                    </a:solidFill>
                  </a:tcPr>
                </a:tc>
              </a:tr>
              <a:tr h="480060">
                <a:tc>
                  <a:txBody>
                    <a:bodyPr wrap="square"/>
                    <a:lstStyle/>
                    <a:p>
                      <a:pPr algn="l">
                        <a:defRPr sz="1060" b="0">
                          <a:solidFill>
                            <a:srgbClr val="333333"/>
                          </a:solidFill>
                          <a:latin typeface="Segoe UI"/>
                        </a:defRPr>
                      </a:pPr>
                      <a:r>
                        <a:rPr sz="1060" b="0">
                          <a:solidFill>
                            <a:srgbClr val="333333"/>
                          </a:solidFill>
                          <a:latin typeface="Segoe UI"/>
                        </a:rPr>
                        <a:t>Benign control</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none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fill in live</a:t>
                      </a:r>
                    </a:p>
                  </a:txBody>
                  <a:tcPr marL="36576" marR="36576" marT="18288" marB="18288" anchor="ctr">
                    <a:solidFill>
                      <a:srgbClr val="FFFFFF"/>
                    </a:solidFill>
                  </a:tcPr>
                </a:tc>
              </a:tr>
            </a:tbl>
          </a:graphicData>
        </a:graphic>
      </p:graphicFrame>
      <p:sp>
        <p:nvSpPr>
          <p:cNvPr id="8" name="Rounded Rectangle 7"/>
          <p:cNvSpPr/>
          <p:nvPr/>
        </p:nvSpPr>
        <p:spPr>
          <a:xfrm>
            <a:off x="685800" y="4160520"/>
            <a:ext cx="5303520"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Evaluators</a:t>
            </a:r>
          </a:p>
          <a:p>
            <a:pPr algn="ctr">
              <a:defRPr sz="1270" b="1">
                <a:solidFill>
                  <a:srgbClr val="0B2E59"/>
                </a:solidFill>
                <a:latin typeface="Segoe UI"/>
              </a:defRPr>
            </a:pPr>
            <a:r>
              <a:t>groundedness · relevance · task adherence · tool-call accuracy · intent resolution · custom "advice matches known conditions"</a:t>
            </a:r>
          </a:p>
        </p:txBody>
      </p:sp>
      <p:sp>
        <p:nvSpPr>
          <p:cNvPr id="9" name="Rounded Rectangle 8"/>
          <p:cNvSpPr/>
          <p:nvPr/>
        </p:nvSpPr>
        <p:spPr>
          <a:xfrm>
            <a:off x="6355080" y="4160520"/>
            <a:ext cx="49377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Red team</a:t>
            </a:r>
          </a:p>
          <a:p>
            <a:pPr algn="ctr">
              <a:defRPr sz="1500" b="1">
                <a:solidFill>
                  <a:srgbClr val="0B2E59"/>
                </a:solidFill>
                <a:latin typeface="Segoe UI"/>
              </a:defRPr>
            </a:pPr>
            <a:r>
              <a:t>Facilitator via SDK path</a:t>
            </a:r>
          </a:p>
          <a:p>
            <a:pPr algn="ctr">
              <a:defRPr sz="1500" b="1">
                <a:solidFill>
                  <a:srgbClr val="0B2E59"/>
                </a:solidFill>
                <a:latin typeface="Segoe UI"/>
              </a:defRPr>
            </a:pPr>
            <a:r>
              <a:t>approx. US$42 per scan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914400"/>
                <a:gridCol w="914400"/>
              </a:tblGrid>
              <a:tr h="492760">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Low</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High</a:t>
                      </a:r>
                    </a:p>
                  </a:txBody>
                  <a:tcPr marL="36576" marR="36576" marT="18288" marB="18288" anchor="ctr">
                    <a:solidFill>
                      <a:srgbClr val="0B2E59"/>
                    </a:solidFill>
                  </a:tcPr>
                </a:tc>
              </a:tr>
              <a:tr h="492760">
                <a:tc>
                  <a:txBody>
                    <a:bodyPr wrap="square"/>
                    <a:lstStyle/>
                    <a:p>
                      <a:pPr algn="l">
                        <a:defRPr sz="969" b="0">
                          <a:solidFill>
                            <a:srgbClr val="333333"/>
                          </a:solidFill>
                          <a:latin typeface="Segoe UI"/>
                        </a:defRPr>
                      </a:pPr>
                      <a:r>
                        <a:rPr sz="969" b="0">
                          <a:solidFill>
                            <a:srgbClr val="333333"/>
                          </a:solidFill>
                          <a:latin typeface="Segoe UI"/>
                        </a:rPr>
                        <a:t>Model tokens (20 x 150 runs x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60</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Quality evaluations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Red teaming / safety evals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Azure AI Search,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40</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Semantic ranker, Bing, Code Interpreter, hosted agents, ACR, storage/App Insights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~18</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Total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83</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166</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Every participant runs a full red-team scan</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+126</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292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Fabric F2, 16 h active</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377440"/>
          </a:xfrm>
          <a:prstGeom prst="rect">
            <a:avLst/>
          </a:prstGeom>
          <a:noFill/>
        </p:spPr>
        <p:txBody>
          <a:bodyPr wrap="square" lIns="73152" rIns="73152" bIns="36576" anchor="t">
            <a:spAutoFit/>
          </a:bodyPr>
          <a:lstStyle/>
          <a:p>
            <a:pPr algn="l">
              <a:defRPr sz="1220" b="0">
                <a:solidFill>
                  <a:srgbClr val="333333"/>
                </a:solidFill>
                <a:latin typeface="Segoe UI"/>
              </a:defRPr>
            </a:pPr>
            <a:r>
              <a:t>• One shared search service and KB</a:t>
            </a:r>
          </a:p>
          <a:p>
            <a:pPr algn="l">
              <a:defRPr sz="1220" b="0">
                <a:solidFill>
                  <a:srgbClr val="333333"/>
                </a:solidFill>
                <a:latin typeface="Segoe UI"/>
              </a:defRPr>
            </a:pPr>
            <a:r>
              <a:t>• model-router default; TPM caps; no PTU</a:t>
            </a:r>
          </a:p>
          <a:p>
            <a:pPr algn="l">
              <a:defRPr sz="1220" b="0">
                <a:solidFill>
                  <a:srgbClr val="333333"/>
                </a:solidFill>
                <a:latin typeface="Segoe UI"/>
              </a:defRPr>
            </a:pPr>
            <a:r>
              <a:t>• Red teaming facilitator-run; lite scan only if enabled</a:t>
            </a:r>
          </a:p>
          <a:p>
            <a:pPr algn="l">
              <a:defRPr sz="1220" b="0">
                <a:solidFill>
                  <a:srgbClr val="333333"/>
                </a:solidFill>
                <a:latin typeface="Segoe UI"/>
              </a:defRPr>
            </a:pPr>
            <a:r>
              <a:t>• Bing off by default; budgets at US$150 and US$300</a:t>
            </a:r>
          </a:p>
          <a:p>
            <a:pPr algn="l">
              <a:defRPr sz="1220" b="0">
                <a:solidFill>
                  <a:srgbClr val="333333"/>
                </a:solidFill>
                <a:latin typeface="Segoe UI"/>
              </a:defRPr>
            </a:pPr>
            <a:r>
              <a:t>• Fabric capacity paused nightly; teardown at T+1</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457200"/>
          </a:xfrm>
          <a:prstGeom prst="rect">
            <a:avLst/>
          </a:prstGeom>
          <a:noFill/>
        </p:spPr>
        <p:txBody>
          <a:bodyPr wrap="square" lIns="73152" rIns="73152" bIns="36576" anchor="t">
            <a:spAutoFit/>
          </a:bodyPr>
          <a:lstStyle/>
          <a:p>
            <a:pPr algn="l">
              <a:defRPr sz="1400" b="0">
                <a:solidFill>
                  <a:srgbClr val="333333"/>
                </a:solidFill>
                <a:latin typeface="Segoe UI"/>
              </a:defRPr>
            </a:pPr>
            <a:r>
              <a:t>tonirex/livewell-foundry-workshop</a:t>
            </a:r>
          </a:p>
          <a:p>
            <a:pPr algn="l">
              <a:defRPr sz="1400" b="0">
                <a:solidFill>
                  <a:srgbClr val="333333"/>
                </a:solidFill>
                <a:latin typeface="Segoe UI"/>
              </a:defRPr>
            </a:pPr>
            <a:r>
              <a:t>private until the dry run passes</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red-team scan,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